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052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D1C3A"/>
          </a:solidFill>
          <a:ln w="12700">
            <a:solidFill>
              <a:srgbClr val="0D1C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TravelQ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Budget Planner 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41148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Swastik Srivastava (CS-23411535)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Yamini Singh, Associate Professor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</a:t>
            </a:r>
          </a:p>
        </p:txBody>
      </p:sp>
      <p:sp>
        <p:nvSpPr>
          <p:cNvPr id="10" name="Text 8"/>
          <p:cNvSpPr/>
          <p:nvPr/>
        </p:nvSpPr>
        <p:spPr>
          <a:xfrm>
            <a:off x="365760" y="44622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446227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9504" y="446227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77056" y="446227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42432" y="446227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548640"/>
            <a:ext cx="3474720" cy="3840480"/>
          </a:xfrm>
          <a:prstGeom prst="rect">
            <a:avLst/>
          </a:prstGeom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092" y="-16184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TravelQ is a full-stack, single-page web application that helps travellers plan trips, track expenses, manage packing lists, analyse spending patterns, and manage agile workflows through an integrated Kanban board — all without any JavaScript framework.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743200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Core Purpose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budget planning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isolation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categorization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lists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743200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74320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Technical Highlights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48716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JWT (RFC 7519)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PBKDF2-SHA256 passwords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JS frameworks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REST API endpoints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with foreign keys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743200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Unique 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48716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Agile/Kanban board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 tracker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11-currency converter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 system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SPA (~2,000 lines JS)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4864" cy="1737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Python Flask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0078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Micro-framework REST API. 18 endpoints across 5 domains. JWT middleware decorator on all protected routes.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8892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54864" cy="17373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🗄️  SQLite3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4813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70078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6-table relational schema. UUID primary keys. Foreign key constraints with ON DELETE CASCADE for referential integrity.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78892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54864" cy="1737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 Custom JWT + PBKDF2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4813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0" y="170078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RFC 7519 JWT using HMAC-SHA256. Passwords hashed with PBKDF2-SHA256, 16-byte random salt, 100,000 iterations (NIST SP 800-132).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278892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54864" cy="1737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081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Vanilla HTML/CSS/JS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447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66674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SPA (~2,000 lines). Fetch API for HTTP. Hash-based routing, zero frameworks. Syne + DM Sans fonts.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78892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2971800"/>
            <a:ext cx="54864" cy="1737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83280" y="3081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Scrum / Kanban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447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66674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management, User Stories with Fibonacci story points, Kanban columns (Todo / In Progress / Done), velocity tracking.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2971800"/>
            <a:ext cx="278892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26480" y="2971800"/>
            <a:ext cx="54864" cy="173736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09360" y="3081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💱  11-Currency Converter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447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366674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reference rate table for INR, USD, EUR, GBP, JPY, AED, SGD, AUD, CAD, CHF, CNY. Instant conversion.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88920" cy="384048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8892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5097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TIER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(~2,000 lines JS)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423160" cy="27432"/>
          </a:xfrm>
          <a:prstGeom prst="rect">
            <a:avLst/>
          </a:prstGeom>
          <a:solidFill>
            <a:srgbClr val="2A3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calls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&lt;token&gt;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routing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via innerHTML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788920" cy="384048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914400"/>
            <a:ext cx="278892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95097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TIER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4813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(Python)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2148840"/>
            <a:ext cx="2423160" cy="27432"/>
          </a:xfrm>
          <a:prstGeom prst="rect">
            <a:avLst/>
          </a:prstGeom>
          <a:solidFill>
            <a:srgbClr val="2A3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228600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REST endpoints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middleware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@require_auth decorator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g.user_id isolation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914400"/>
            <a:ext cx="2788920" cy="384048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914400"/>
            <a:ext cx="27889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95097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TIER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14813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travelq.db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2148840"/>
            <a:ext cx="2423160" cy="27432"/>
          </a:xfrm>
          <a:prstGeom prst="rect">
            <a:avLst/>
          </a:prstGeom>
          <a:solidFill>
            <a:srgbClr val="2A3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228600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tables, UUID PKs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CASCADE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 foreign_keys=ON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passwords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63240" y="2834640"/>
            <a:ext cx="1828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1828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081528" y="25603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HTTP/JSON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53328" y="25603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WALKTHROUGH  ·  Authentication Screen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937760" cy="3886200"/>
          </a:xfrm>
          <a:prstGeom prst="rect">
            <a:avLst/>
          </a:prstGeom>
          <a:effectLst>
            <a:outerShdw blurRad="203200" dist="50800" dir="81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0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 Highlights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0" y="1472184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60720" y="14173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 toggle tabs with smooth active state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200253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0" y="194767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PBKDF2-SHA256 password hashing (100,000 iterations, random salt)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0" y="2532888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60720" y="247802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JWT token generated on successful login — stored in localStorage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0" y="306324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60720" y="300837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credentials pre-filled (demo / demo123) for quick testing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359359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60720" y="353872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error messages for invalid credentials or duplicate usernames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0" y="4123944"/>
            <a:ext cx="201168" cy="201168"/>
          </a:xfrm>
          <a:prstGeom prst="ellipse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60720" y="406908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accent line at top of card — pure CSS, no images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WALKTHROUGH  ·  Budget Dashboard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937760" cy="3886200"/>
          </a:xfrm>
          <a:prstGeom prst="rect">
            <a:avLst/>
          </a:prstGeom>
          <a:effectLst>
            <a:outerShdw blurRad="203200" dist="50800" dir="81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0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Components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0" y="1472184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60720" y="14173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stat cards: Budget, Spent, Remaining, % Used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200253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0" y="194767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budget progress bar — colour shifts amber &gt; 60%, red &gt; 90%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0" y="2532888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60720" y="247802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breakdown: horizontal CSS bars, no charting library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0" y="306324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60720" y="300837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expenses list with emoji category icon, date, payment method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359359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60720" y="353872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selector dropdown — instantly switches active trip context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0" y="4123944"/>
            <a:ext cx="201168" cy="201168"/>
          </a:xfrm>
          <a:prstGeom prst="ellipse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60720" y="406908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Trip button opens a modal form with budget &amp; date inputs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WALKTHROUGH  ·  Agile Kanban Board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937760" cy="3886200"/>
          </a:xfrm>
          <a:prstGeom prst="rect">
            <a:avLst/>
          </a:prstGeom>
          <a:effectLst>
            <a:outerShdw blurRad="203200" dist="50800" dir="81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0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Agile Board Features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0" y="1472184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60720" y="14173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header: name, goal, dates, velocity, completion 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200253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0" y="194767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Kanban columns: To Do / In Progress / Done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0" y="253288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60720" y="247802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cards show title, priority badge, and story points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0" y="306324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60720" y="300837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story points: 1, 2, 3, 5, 8, 13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359359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60720" y="353872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 bar showing completed vs planned points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0" y="4123944"/>
            <a:ext cx="201168" cy="201168"/>
          </a:xfrm>
          <a:prstGeom prst="ellipse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60720" y="406908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colour coding: red=high, amber=medium, green=low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WALKTHROUGH  ·  Currency Converter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937760" cy="3886200"/>
          </a:xfrm>
          <a:prstGeom prst="rect">
            <a:avLst/>
          </a:prstGeom>
          <a:effectLst>
            <a:outerShdw blurRad="203200" dist="50800" dir="81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0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Currency Module Features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0" y="147218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60720" y="14173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11 currencies: INR, USD, EUR, GBP, JPY, AED, SGD, AUD, CAD, CHF, CNY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2002536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0" y="194767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conversion — result displayed with gradient large text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0" y="253288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60720" y="247802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rate grid shows all rates relative to INR base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0" y="3063240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60720" y="300837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/api/currency/convert?amount=X&amp;from=INR&amp;to=USD endpoint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3593592"/>
            <a:ext cx="201168" cy="201168"/>
          </a:xfrm>
          <a:prstGeom prst="ellipse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60720" y="353872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table updates on each page load from backend /api/currency/rates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SCHEMA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889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88920" cy="3840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9509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37160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(UUID PK)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(UNIQUE)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(PBKDF2)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889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88920" cy="38404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0128" y="9509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37160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(UUID PK)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→ 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destination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start_date, end_date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(REAL)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(default INR)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7889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88920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36208" y="9509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37160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(UUID PK)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trip_id → trips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amount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date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(Cash/UPI/Card)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27889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278892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30540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packing_items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347472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(UUID PK)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trip_id → trips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item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(0/1)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27889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2788920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10128" y="30540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47472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(UUID PK)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→ 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goal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start_date, end_date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velocity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7889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788920" cy="384048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36208" y="30540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user_stories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47472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(UUID PK)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sprint_id → sprints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story_points (Fibonacci)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assigned_to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API REFERENCE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solidFill>
            <a:srgbClr val="212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9326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9326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93268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242316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2984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2984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/api/auth/register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12984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user account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0" y="12984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154076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15407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/api/auth/login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15407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returns JWT token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15407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746504"/>
            <a:ext cx="8595360" cy="242316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17830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1783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17830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current user profile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1783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20253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20253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/api/auth/change-password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0" y="20253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account password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20253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231136"/>
            <a:ext cx="8595360" cy="242316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22677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22677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0" y="22677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trips for user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22677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25100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" y="25100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89120" y="25100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trip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25100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2715768"/>
            <a:ext cx="8595360" cy="242316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275234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97280" y="27523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/api/trips/:id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89120" y="27523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trip details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46720" y="27523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" y="29946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97280" y="29946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/api/trips/:id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389120" y="29946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trip + cascade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46720" y="29946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200400"/>
            <a:ext cx="8595360" cy="242316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0040" y="3236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97280" y="32369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/api/trips/:id/summary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389120" y="32369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summary stats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46720" y="32369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0040" y="34792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97280" y="34792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/api/trips/:id/expenses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389120" y="34792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trip expenses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046720" y="34792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3685032"/>
            <a:ext cx="8595360" cy="242316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0040" y="3721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97280" y="37216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/api/trips/:id/expenses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389120" y="3721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expense to trip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046720" y="3721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20040" y="39639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97280" y="39639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/api/sprints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389120" y="39639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sprints + stories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046720" y="39639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4169664"/>
            <a:ext cx="8595360" cy="242316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20040" y="4206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97280" y="4206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/api/sprints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389120" y="4206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sprint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046720" y="4206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20040" y="444855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097280" y="44485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/api/sprints/:id/stories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389120" y="44485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story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046720" y="44485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74320" y="4654296"/>
            <a:ext cx="8595360" cy="242316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20040" y="46908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097280" y="46908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/api/stories/:id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389120" y="46908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story status/points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046720" y="46908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320040" y="493318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097280" y="49331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/api/currency/convert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389120" y="49331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between currencies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8046720" y="49331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JWT Authentication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40817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username + password via POST /api/auth/login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" y="1719072"/>
            <a:ext cx="0" cy="182880"/>
          </a:xfrm>
          <a:prstGeom prst="line">
            <a:avLst/>
          </a:prstGeom>
          <a:noFill/>
          <a:ln w="1905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193852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re-derives PBKDF2 key using stored salt → compare_digest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" y="2249424"/>
            <a:ext cx="0" cy="182880"/>
          </a:xfrm>
          <a:prstGeom prst="line">
            <a:avLst/>
          </a:prstGeom>
          <a:noFill/>
          <a:ln w="1905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432304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24688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match: create JWT → Header.Payload.HMAC-SHA256-Signature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8056" y="2779776"/>
            <a:ext cx="0" cy="182880"/>
          </a:xfrm>
          <a:prstGeom prst="line">
            <a:avLst/>
          </a:prstGeom>
          <a:noFill/>
          <a:ln w="1905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962656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299923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returned to browser → stored in localStorage as 'tq_token'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" y="3310128"/>
            <a:ext cx="0" cy="182880"/>
          </a:xfrm>
          <a:prstGeom prst="line">
            <a:avLst/>
          </a:prstGeom>
          <a:noFill/>
          <a:ln w="1905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493008"/>
            <a:ext cx="347472" cy="347472"/>
          </a:xfrm>
          <a:prstGeom prst="ellipse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352958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protected requests include Authorization: Bearer &lt;token&gt;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" y="3840480"/>
            <a:ext cx="0" cy="182880"/>
          </a:xfrm>
          <a:prstGeom prst="line">
            <a:avLst/>
          </a:prstGeom>
          <a:noFill/>
          <a:ln w="1905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023360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405993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@require_auth verifies signature + expiry → sets g.user_id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914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Summary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1353312"/>
            <a:ext cx="237744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14264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14264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PBKDF2-SHA256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1883664"/>
            <a:ext cx="2377440" cy="457200"/>
          </a:xfrm>
          <a:prstGeom prst="rect">
            <a:avLst/>
          </a:prstGeom>
          <a:solidFill>
            <a:srgbClr val="1A2235"/>
          </a:solidFill>
          <a:ln w="635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83680" y="195681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80960" y="195681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16-byte random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2414016"/>
            <a:ext cx="237744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0" y="24871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80960" y="24871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944368"/>
            <a:ext cx="2377440" cy="457200"/>
          </a:xfrm>
          <a:prstGeom prst="rect">
            <a:avLst/>
          </a:prstGeom>
          <a:solidFill>
            <a:srgbClr val="1A2235"/>
          </a:solidFill>
          <a:ln w="635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83680" y="3017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68096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800-132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3474720"/>
            <a:ext cx="237744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83680" y="35478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Algo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80960" y="3547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005072"/>
            <a:ext cx="2377440" cy="457200"/>
          </a:xfrm>
          <a:prstGeom prst="rect">
            <a:avLst/>
          </a:prstGeom>
          <a:solidFill>
            <a:srgbClr val="1A2235"/>
          </a:solidFill>
          <a:ln w="635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83680" y="40782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TTL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80960" y="40782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92240" y="4535424"/>
            <a:ext cx="237744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583680" y="46085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680960" y="46085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compare_digest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SPRINT VELOCITY &amp; TESTING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Sprint Velocity Tracker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38912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384048" cy="2011680"/>
          </a:xfrm>
          <a:prstGeom prst="rect">
            <a:avLst/>
          </a:prstGeom>
          <a:solidFill>
            <a:srgbClr val="3B82F6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98448" y="1746504"/>
            <a:ext cx="384048" cy="191109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675888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51790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95728" y="2249424"/>
            <a:ext cx="384048" cy="1408176"/>
          </a:xfrm>
          <a:prstGeom prst="rect">
            <a:avLst/>
          </a:prstGeom>
          <a:solidFill>
            <a:srgbClr val="8B5CF6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79776" y="2249424"/>
            <a:ext cx="384048" cy="14081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04288" y="3675888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&amp; Expenses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95728" y="202082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77056" y="2852928"/>
            <a:ext cx="384048" cy="804672"/>
          </a:xfrm>
          <a:prstGeom prst="rect">
            <a:avLst/>
          </a:prstGeom>
          <a:solidFill>
            <a:srgbClr val="F59E0B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61104" y="3154680"/>
            <a:ext cx="384048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85616" y="3675888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&amp; Currency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77056" y="292608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58384" y="3255264"/>
            <a:ext cx="384048" cy="402336"/>
          </a:xfrm>
          <a:prstGeom prst="rect">
            <a:avLst/>
          </a:prstGeom>
          <a:solidFill>
            <a:srgbClr val="10B981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42432" y="3355848"/>
            <a:ext cx="384048" cy="3017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66944" y="3675888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Testing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58384" y="3127248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0" y="1481328"/>
            <a:ext cx="228600" cy="164592"/>
          </a:xfrm>
          <a:prstGeom prst="rect">
            <a:avLst/>
          </a:prstGeom>
          <a:solidFill>
            <a:srgbClr val="64748B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35808" y="1463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1481328"/>
            <a:ext cx="228600" cy="1645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33088" y="1463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41/46 pts — 89.1% completion rate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Summary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1353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endpoints tested with HTTP calls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200, 201, 400, 401, 404 status codes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JWT: missing, expired, tampered token cases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isolation: cross-user access returns 403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2852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314553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brute-force: ~100ms per attempt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tampering → 401 Unauthorized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expiry enforced after 24 hours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40782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Testing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43708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Chrome, Mozilla Firefox, Edge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 flows verified manually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routing, modals, form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 &amp; FUTURE DIRECTIONS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What Was Achieved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RESTful API with Flask — 18 endpoints, proper HTTP conventions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Dependency-free JWT using built-in hmac + hashlib (RFC 7519)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PBKDF2-SHA256 passwords — NIST SP 800-132 compliant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SPA with pure HTML/CSS/Vanilla JS — no framework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Agile board with Sprint management and velocity tracking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SQLite schema with foreign keys and cascading deletes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89.1% story point completion across 4 sprints (41/46 pts)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32588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rates are hardcoded, not fetched live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not suitable for high-concurrency production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verification at registration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ARIA/accessibility attributes on frontend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containerised (no Docker compose)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3017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Future Directions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3429000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exchange rates via ExchangeRate API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(Google/GitHub social login)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trip sharing with RBAC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Flutter mobile app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+ PostgreSQL migration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914400"/>
            <a:ext cx="5486400" cy="3200400"/>
          </a:xfrm>
          <a:prstGeom prst="rect">
            <a:avLst/>
          </a:prstGeom>
          <a:solidFill>
            <a:srgbClr val="0D1C3A"/>
          </a:solidFill>
          <a:ln w="12700">
            <a:solidFill>
              <a:srgbClr val="0D1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 err="1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TravelQ</a:t>
            </a:r>
            <a:r>
              <a:rPr lang="en-US" sz="14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Travel Budget Planner with JWT Auth &amp; Agile 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297180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Swastik Srivastava  ·  CS-23411535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·  May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452628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3B82F6">
              <a:alpha val="70000"/>
            </a:srgbClr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5079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08760" y="4526280"/>
            <a:ext cx="1161288" cy="347472"/>
          </a:xfrm>
          <a:prstGeom prst="roundRect">
            <a:avLst>
              <a:gd name="adj" fmla="val 21053"/>
            </a:avLst>
          </a:prstGeom>
          <a:solidFill>
            <a:srgbClr val="8B5CF6">
              <a:alpha val="70000"/>
            </a:srgbClr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08760" y="4507992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52928" y="4526280"/>
            <a:ext cx="832104" cy="347472"/>
          </a:xfrm>
          <a:prstGeom prst="roundRect">
            <a:avLst>
              <a:gd name="adj" fmla="val 21053"/>
            </a:avLst>
          </a:prstGeom>
          <a:solidFill>
            <a:srgbClr val="10B981">
              <a:alpha val="7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52928" y="4507992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67912" y="452628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67912" y="45079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50992" y="4526280"/>
            <a:ext cx="1380744" cy="347472"/>
          </a:xfrm>
          <a:prstGeom prst="roundRect">
            <a:avLst>
              <a:gd name="adj" fmla="val 21053"/>
            </a:avLst>
          </a:prstGeom>
          <a:solidFill>
            <a:srgbClr val="EF4444">
              <a:alpha val="70000"/>
            </a:srgbClr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50992" y="4507992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14616" y="452628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8B5CF6">
              <a:alpha val="70000"/>
            </a:srgbClr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14616" y="45079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1480</Words>
  <Application>Microsoft Macintosh PowerPoint</Application>
  <PresentationFormat>On-screen Show (16:9)</PresentationFormat>
  <Paragraphs>318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TravelQ — Travel Budget Planner</dc:title>
  <dc:subject>PptxGenJS Presentation</dc:subject>
  <dc:creator>Swastik Srivastava</dc:creator>
  <cp:lastModifiedBy>swastiksri1501</cp:lastModifiedBy>
  <cp:revision>7</cp:revision>
  <dcterms:created xsi:type="dcterms:W3CDTF">2026-05-05T01:47:01Z</dcterms:created>
  <dcterms:modified xsi:type="dcterms:W3CDTF">2026-05-05T05:51:22Z</dcterms:modified>
</cp:coreProperties>
</file>